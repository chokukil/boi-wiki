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94944"/>
            <a:ext cx="9784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61FF"/>
                </a:solidFill>
                <a:latin typeface="Malgun Gothic"/>
              </a:rPr>
              <a:t>TM → CEO → AIX 확산 TF Cascade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3444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0F1F34"/>
                </a:solidFill>
                <a:latin typeface="Malgun Gothic"/>
              </a:rPr>
              <a:t>BoI Wiki PoC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13969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1C2128"/>
                </a:solidFill>
                <a:latin typeface="Malgun Gothic"/>
              </a:rPr>
              <a:t>1인 1 Agent를 조직의 지식으로 축적하는 업무 맥락 자산화 PoC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063240"/>
            <a:ext cx="3886200" cy="1554480"/>
          </a:xfrm>
          <a:prstGeom prst="roundRect">
            <a:avLst/>
          </a:prstGeom>
          <a:solidFill>
            <a:srgbClr val="EBF2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063240"/>
            <a:ext cx="73152" cy="1554480"/>
          </a:xfrm>
          <a:prstGeom prst="rect">
            <a:avLst/>
          </a:prstGeom>
          <a:solidFill>
            <a:srgbClr val="1F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3191256"/>
            <a:ext cx="3575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1F34"/>
                </a:solidFill>
                <a:latin typeface="Malgun Gothic"/>
              </a:rPr>
              <a:t>핵심 결론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3566160"/>
            <a:ext cx="3575304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C2128"/>
                </a:solidFill>
                <a:latin typeface="Malgun Gothic"/>
              </a:rPr>
              <a:t>Agent는 각자 만들 수 있지만, 지식은 회사 방식으로 쌓여야 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83480" y="3063240"/>
            <a:ext cx="3886200" cy="1554480"/>
          </a:xfrm>
          <a:prstGeom prst="roundRect">
            <a:avLst/>
          </a:prstGeom>
          <a:solidFill>
            <a:srgbClr val="EBF9F2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983480" y="3063240"/>
            <a:ext cx="73152" cy="1554480"/>
          </a:xfrm>
          <a:prstGeom prst="rect">
            <a:avLst/>
          </a:prstGeom>
          <a:solidFill>
            <a:srgbClr val="1F9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48072" y="3191256"/>
            <a:ext cx="3575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1F34"/>
                </a:solidFill>
                <a:latin typeface="Malgun Gothic"/>
              </a:rPr>
              <a:t>이번 검증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8072" y="3566160"/>
            <a:ext cx="3575304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C2128"/>
                </a:solidFill>
                <a:latin typeface="Malgun Gothic"/>
              </a:rPr>
              <a:t>Event Broker → Action Gateway → BoI Wiki → Langflow LLM 실행까지 실제 동작 확인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3063240"/>
            <a:ext cx="3886200" cy="1554480"/>
          </a:xfrm>
          <a:prstGeom prst="roundRect">
            <a:avLst/>
          </a:prstGeom>
          <a:solidFill>
            <a:srgbClr val="EBF9F2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0" y="3063240"/>
            <a:ext cx="73152" cy="1554480"/>
          </a:xfrm>
          <a:prstGeom prst="rect">
            <a:avLst/>
          </a:prstGeom>
          <a:solidFill>
            <a:srgbClr val="1F9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08592" y="3191256"/>
            <a:ext cx="3575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1F34"/>
                </a:solidFill>
                <a:latin typeface="Malgun Gothic"/>
              </a:rPr>
              <a:t>증거 캡처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08592" y="3566160"/>
            <a:ext cx="3575304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C2128"/>
                </a:solidFill>
                <a:latin typeface="Malgun Gothic"/>
              </a:rPr>
              <a:t>vercel:agent-browser로 핵심 화면 8개를 캡처하고 PPT에 삽입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309360"/>
            <a:ext cx="8046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06C7B"/>
                </a:solidFill>
                <a:latin typeface="Malgun Gothic"/>
              </a:rPr>
              <a:t>SK hynix AIX 확산 TF | Executive Brief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30936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606C7B"/>
                </a:solidFill>
                <a:latin typeface="Malgun Gothi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F61FF"/>
                </a:solidFill>
                <a:latin typeface="Malgun Gothic"/>
              </a:rPr>
              <a:t>BoI Wiki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7589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F34"/>
                </a:solidFill>
                <a:latin typeface="Malgun Gothic"/>
              </a:rPr>
              <a:t>경영 메시지는 하나의 실행 과제로 연결된다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9784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06C7B"/>
                </a:solidFill>
                <a:latin typeface="Malgun Gothic"/>
              </a:rPr>
              <a:t>이천 포럼의 방향성을 PoC의 실행 범위로 번역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99616"/>
            <a:ext cx="10469880" cy="18288"/>
          </a:xfrm>
          <a:prstGeom prst="rect">
            <a:avLst/>
          </a:prstGeom>
          <a:solidFill>
            <a:srgbClr val="DE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Arrow 5"/>
          <p:cNvSpPr/>
          <p:nvPr/>
        </p:nvSpPr>
        <p:spPr>
          <a:xfrm>
            <a:off x="822960" y="2011680"/>
            <a:ext cx="3383280" cy="914400"/>
          </a:xfrm>
          <a:prstGeom prst="rightArrow">
            <a:avLst/>
          </a:prstGeom>
          <a:solidFill>
            <a:srgbClr val="EBF2FF"/>
          </a:solidFill>
          <a:ln>
            <a:solidFill>
              <a:srgbClr val="1F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F34"/>
                </a:solidFill>
                <a:latin typeface="Malgun Gothic"/>
              </a:rPr>
              <a:t>TM</a:t>
            </a:r>
          </a:p>
          <a:p>
            <a:r>
              <a:t>우리 일을 이해하는 AI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572000" y="2011680"/>
            <a:ext cx="3383280" cy="914400"/>
          </a:xfrm>
          <a:prstGeom prst="rightArrow">
            <a:avLst/>
          </a:prstGeom>
          <a:solidFill>
            <a:srgbClr val="EBF2FF"/>
          </a:solidFill>
          <a:ln>
            <a:solidFill>
              <a:srgbClr val="1F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F34"/>
                </a:solidFill>
                <a:latin typeface="Malgun Gothic"/>
              </a:rPr>
              <a:t>CEO</a:t>
            </a:r>
          </a:p>
          <a:p>
            <a:r>
              <a:t>AI Native Memory Creator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321040" y="2011680"/>
            <a:ext cx="3657600" cy="914400"/>
          </a:xfrm>
          <a:prstGeom prst="rightArrow">
            <a:avLst/>
          </a:prstGeom>
          <a:solidFill>
            <a:srgbClr val="EBF2FF"/>
          </a:solidFill>
          <a:ln>
            <a:solidFill>
              <a:srgbClr val="1F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F34"/>
                </a:solidFill>
                <a:latin typeface="Malgun Gothic"/>
              </a:rPr>
              <a:t>AIX 확산 TF</a:t>
            </a:r>
          </a:p>
          <a:p>
            <a:r>
              <a:t>공통 Harness와 BoI Wiki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703320"/>
            <a:ext cx="3383280" cy="1234440"/>
          </a:xfrm>
          <a:prstGeom prst="roundRect">
            <a:avLst/>
          </a:prstGeom>
          <a:solidFill>
            <a:srgbClr val="F6F8FA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3703320"/>
            <a:ext cx="73152" cy="1234440"/>
          </a:xfrm>
          <a:prstGeom prst="rect">
            <a:avLst/>
          </a:prstGeom>
          <a:solidFill>
            <a:srgbClr val="1F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3831335"/>
            <a:ext cx="3072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F34"/>
                </a:solidFill>
                <a:latin typeface="Malgun Gothic"/>
              </a:rPr>
              <a:t>TM 메시지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4206240"/>
            <a:ext cx="3072384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C2128"/>
                </a:solidFill>
                <a:latin typeface="Malgun Gothic"/>
              </a:rPr>
              <a:t>개인 AI 활용을 넘어 조직의 일과 맥락을 먼저 정의해야 한다.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3703320"/>
            <a:ext cx="3383280" cy="1234440"/>
          </a:xfrm>
          <a:prstGeom prst="roundRect">
            <a:avLst/>
          </a:prstGeom>
          <a:solidFill>
            <a:srgbClr val="F6F8FA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17720" y="3703320"/>
            <a:ext cx="73152" cy="1234440"/>
          </a:xfrm>
          <a:prstGeom prst="rect">
            <a:avLst/>
          </a:prstGeom>
          <a:solidFill>
            <a:srgbClr val="00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82312" y="3831335"/>
            <a:ext cx="3072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F34"/>
                </a:solidFill>
                <a:latin typeface="Malgun Gothic"/>
              </a:rPr>
              <a:t>CEO 메시지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82312" y="4206240"/>
            <a:ext cx="3072384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C2128"/>
                </a:solidFill>
                <a:latin typeface="Malgun Gothic"/>
              </a:rPr>
              <a:t>DT가 데이터를 연결했다면 AI는 판단과 실행을 연결해야 한다.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3703320"/>
            <a:ext cx="3657600" cy="1234440"/>
          </a:xfrm>
          <a:prstGeom prst="roundRect">
            <a:avLst/>
          </a:prstGeom>
          <a:solidFill>
            <a:srgbClr val="F6F8FA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1040" y="3703320"/>
            <a:ext cx="73152" cy="1234440"/>
          </a:xfrm>
          <a:prstGeom prst="rect">
            <a:avLst/>
          </a:prstGeom>
          <a:solidFill>
            <a:srgbClr val="1F9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85632" y="3831335"/>
            <a:ext cx="3346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F34"/>
                </a:solidFill>
                <a:latin typeface="Malgun Gothic"/>
              </a:rPr>
              <a:t>TF 실행 과제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85632" y="4206240"/>
            <a:ext cx="3346704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C2128"/>
                </a:solidFill>
                <a:latin typeface="Malgun Gothic"/>
              </a:rPr>
              <a:t>Claude, ChatGPT, Copilot, Langflow가 회사 방식으로 일하게 하는 공통 기반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309360"/>
            <a:ext cx="8046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06C7B"/>
                </a:solidFill>
                <a:latin typeface="Malgun Gothic"/>
              </a:rPr>
              <a:t>SK hynix AIX 확산 TF | Executive Brief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30936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606C7B"/>
                </a:solidFill>
                <a:latin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F61FF"/>
                </a:solidFill>
                <a:latin typeface="Malgun Gothic"/>
              </a:rPr>
              <a:t>BoI Wiki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7589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F34"/>
                </a:solidFill>
                <a:latin typeface="Malgun Gothic"/>
              </a:rPr>
              <a:t>문제 정의: Agent는 늘지만 지식은 흩어진다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9784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06C7B"/>
                </a:solidFill>
                <a:latin typeface="Malgun Gothic"/>
              </a:rPr>
              <a:t>PoC가 해결하려는 것은 툴 표준화가 아니라 업무 맥락의 자산화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99616"/>
            <a:ext cx="10469880" cy="18288"/>
          </a:xfrm>
          <a:prstGeom prst="rect">
            <a:avLst/>
          </a:prstGeom>
          <a:solidFill>
            <a:srgbClr val="DE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3108960" cy="1920240"/>
          </a:xfrm>
          <a:prstGeom prst="roundRect">
            <a:avLst/>
          </a:prstGeom>
          <a:solidFill>
            <a:srgbClr val="FFF6E2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74519"/>
            <a:ext cx="73152" cy="1920240"/>
          </a:xfrm>
          <a:prstGeom prst="rect">
            <a:avLst/>
          </a:prstGeom>
          <a:solidFill>
            <a:srgbClr val="F0A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002536"/>
            <a:ext cx="2798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F34"/>
                </a:solidFill>
                <a:latin typeface="Malgun Gothic"/>
              </a:rPr>
              <a:t>현재 상태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377439"/>
            <a:ext cx="279806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C2128"/>
                </a:solidFill>
                <a:latin typeface="Malgun Gothic"/>
              </a:rPr>
              <a:t>개인별 Prompt, 파일, 대화, 자동화가 각자 축적된다.</a:t>
            </a:r>
            <a:br/>
            <a:r>
              <a:t>성과는 생기지만 재사용과 감사가 어렵다.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874519"/>
            <a:ext cx="3108960" cy="1920240"/>
          </a:xfrm>
          <a:prstGeom prst="roundRect">
            <a:avLst/>
          </a:prstGeom>
          <a:solidFill>
            <a:srgbClr val="FFEFE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1874519"/>
            <a:ext cx="73152" cy="1920240"/>
          </a:xfrm>
          <a:prstGeom prst="rect">
            <a:avLst/>
          </a:prstGeom>
          <a:solidFill>
            <a:srgbClr val="D2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2002536"/>
            <a:ext cx="2798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F34"/>
                </a:solidFill>
                <a:latin typeface="Malgun Gothic"/>
              </a:rPr>
              <a:t>리스크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5112" y="2377439"/>
            <a:ext cx="279806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C2128"/>
                </a:solidFill>
                <a:latin typeface="Malgun Gothic"/>
              </a:rPr>
              <a:t>근거 불명확, 권한 혼선, 고위험 Action 자동화, 팀 단위 학습 단절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1874519"/>
            <a:ext cx="3886200" cy="1920240"/>
          </a:xfrm>
          <a:prstGeom prst="roundRect">
            <a:avLst/>
          </a:prstGeom>
          <a:solidFill>
            <a:srgbClr val="EBF2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89520" y="1874519"/>
            <a:ext cx="73152" cy="1920240"/>
          </a:xfrm>
          <a:prstGeom prst="rect">
            <a:avLst/>
          </a:prstGeom>
          <a:solidFill>
            <a:srgbClr val="1F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54112" y="2002536"/>
            <a:ext cx="3575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F34"/>
                </a:solidFill>
                <a:latin typeface="Malgun Gothic"/>
              </a:rPr>
              <a:t>필요한 공통자산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2377439"/>
            <a:ext cx="357530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C2128"/>
                </a:solidFill>
                <a:latin typeface="Malgun Gothic"/>
              </a:rPr>
              <a:t>Event Type, BoI Wiki, Agent Harness, 승격/검토/권한 정책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1772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C2128"/>
                </a:solidFill>
                <a:latin typeface="Malgun Gothic"/>
              </a:defRPr>
            </a:pPr>
            <a:r>
              <a:t>PoC의 질문: 개인 Agent가 만든 업무 산출을 회사가 재사용 가능한 맥락 자산으로 바꿀 수 있는가?</a:t>
            </a:r>
          </a:p>
          <a:p>
            <a:pPr>
              <a:spcAft>
                <a:spcPts val="500"/>
              </a:spcAft>
              <a:defRPr sz="1300">
                <a:solidFill>
                  <a:srgbClr val="1C2128"/>
                </a:solidFill>
                <a:latin typeface="Malgun Gothic"/>
              </a:defRPr>
            </a:pPr>
            <a:r>
              <a:t>성공 기준: 생성, 추적, 검색, 승격, 승인 통제를 최소 구현으로 끝까지 증명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309360"/>
            <a:ext cx="8046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06C7B"/>
                </a:solidFill>
                <a:latin typeface="Malgun Gothic"/>
              </a:rPr>
              <a:t>SK hynix AIX 확산 TF | Executive Brief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30936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606C7B"/>
                </a:solidFill>
                <a:latin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F61FF"/>
                </a:solidFill>
                <a:latin typeface="Malgun Gothic"/>
              </a:rPr>
              <a:t>BoI Wiki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7589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F34"/>
                </a:solidFill>
                <a:latin typeface="Malgun Gothic"/>
              </a:rPr>
              <a:t>PoC 명제: 실행 채널은 바뀌어도 업무 맥락 자산은 남긴다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9784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06C7B"/>
                </a:solidFill>
                <a:latin typeface="Malgun Gothic"/>
              </a:rPr>
              <a:t>Claude, ChatGPT, M365 Copilot, Langflow, Custom Agent는 peer connector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99616"/>
            <a:ext cx="10469880" cy="18288"/>
          </a:xfrm>
          <a:prstGeom prst="rect">
            <a:avLst/>
          </a:prstGeom>
          <a:solidFill>
            <a:srgbClr val="DE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2514600" cy="2057400"/>
          </a:xfrm>
          <a:prstGeom prst="roundRect">
            <a:avLst/>
          </a:prstGeom>
          <a:solidFill>
            <a:srgbClr val="EBF2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65960"/>
            <a:ext cx="73152" cy="2057400"/>
          </a:xfrm>
          <a:prstGeom prst="rect">
            <a:avLst/>
          </a:prstGeom>
          <a:solidFill>
            <a:srgbClr val="1F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093976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F34"/>
                </a:solidFill>
                <a:latin typeface="Malgun Gothic"/>
              </a:rPr>
              <a:t>Agent Harness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468880"/>
            <a:ext cx="2203704" cy="1453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1C2128"/>
                </a:solidFill>
                <a:latin typeface="Malgun Gothic"/>
              </a:rPr>
              <a:t>Private-first</a:t>
            </a:r>
            <a:br/>
            <a:r>
              <a:t>출처/권한/승격 원칙</a:t>
            </a:r>
            <a:br/>
            <a:r>
              <a:t>Action guardrail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965960"/>
            <a:ext cx="2514600" cy="2057400"/>
          </a:xfrm>
          <a:prstGeom prst="roundRect">
            <a:avLst/>
          </a:prstGeom>
          <a:solidFill>
            <a:srgbClr val="EBF9F2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0440" y="1965960"/>
            <a:ext cx="73152" cy="2057400"/>
          </a:xfrm>
          <a:prstGeom prst="rect">
            <a:avLst/>
          </a:prstGeom>
          <a:solidFill>
            <a:srgbClr val="1F9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85032" y="2093976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F34"/>
                </a:solidFill>
                <a:latin typeface="Malgun Gothic"/>
              </a:rPr>
              <a:t>BoI Wiki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032" y="2468880"/>
            <a:ext cx="2203704" cy="1453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1C2128"/>
                </a:solidFill>
                <a:latin typeface="Malgun Gothic"/>
              </a:rPr>
              <a:t>OKF 기반 업무 맥락 저장소</a:t>
            </a:r>
            <a:br/>
            <a:r>
              <a:t>Public / Team / Private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965960"/>
            <a:ext cx="2514600" cy="2057400"/>
          </a:xfrm>
          <a:prstGeom prst="roundRect">
            <a:avLst/>
          </a:prstGeom>
          <a:solidFill>
            <a:srgbClr val="FFF6E2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965960"/>
            <a:ext cx="73152" cy="2057400"/>
          </a:xfrm>
          <a:prstGeom prst="rect">
            <a:avLst/>
          </a:prstGeom>
          <a:solidFill>
            <a:srgbClr val="F0A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2093976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F34"/>
                </a:solidFill>
                <a:latin typeface="Malgun Gothic"/>
              </a:rPr>
              <a:t>Event Broker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468880"/>
            <a:ext cx="2203704" cy="1453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1C2128"/>
                </a:solidFill>
                <a:latin typeface="Malgun Gothic"/>
              </a:rPr>
              <a:t>업무 시점을 이벤트로 발행</a:t>
            </a:r>
            <a:br/>
            <a:r>
              <a:t>meeting/action/report/SOP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965960"/>
            <a:ext cx="2514600" cy="2057400"/>
          </a:xfrm>
          <a:prstGeom prst="roundRect">
            <a:avLst/>
          </a:prstGeom>
          <a:solidFill>
            <a:srgbClr val="EEF3F8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1965960"/>
            <a:ext cx="73152" cy="2057400"/>
          </a:xfrm>
          <a:prstGeom prst="rect">
            <a:avLst/>
          </a:prstGeom>
          <a:solidFill>
            <a:srgbClr val="00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62872" y="2093976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F34"/>
                </a:solidFill>
                <a:latin typeface="Malgun Gothic"/>
              </a:rPr>
              <a:t>Action Gateway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2872" y="2468880"/>
            <a:ext cx="2203704" cy="1453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1C2128"/>
                </a:solidFill>
                <a:latin typeface="Malgun Gothic"/>
              </a:rPr>
              <a:t>BoI Writer, Langflow, API,</a:t>
            </a:r>
            <a:br/>
            <a:r>
              <a:t>Webhook, MCP 실행 통제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75488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F1F34"/>
                </a:solidFill>
                <a:latin typeface="Malgun Gothic"/>
              </a:rPr>
              <a:t>PoC 산출물은 특정 LLM UI가 아니라 ‘업무 이벤트 → 판단/실행 → BoI 축적 → 팀 승격’이라는 운영 패턴이다.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309360"/>
            <a:ext cx="8046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06C7B"/>
                </a:solidFill>
                <a:latin typeface="Malgun Gothic"/>
              </a:rPr>
              <a:t>SK hynix AIX 확산 TF | Executive Brief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630936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606C7B"/>
                </a:solidFill>
                <a:latin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F61FF"/>
                </a:solidFill>
                <a:latin typeface="Malgun Gothic"/>
              </a:rPr>
              <a:t>BoI Wiki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7589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F34"/>
                </a:solidFill>
                <a:latin typeface="Malgun Gothic"/>
              </a:rPr>
              <a:t>2개월 PoC 범위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9784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06C7B"/>
                </a:solidFill>
                <a:latin typeface="Malgun Gothic"/>
              </a:rPr>
              <a:t>명확한 포함/제외 범위로 경영진 기대치를 통제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99616"/>
            <a:ext cx="10469880" cy="18288"/>
          </a:xfrm>
          <a:prstGeom prst="rect">
            <a:avLst/>
          </a:prstGeom>
          <a:solidFill>
            <a:srgbClr val="DE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4892040" cy="3291840"/>
          </a:xfrm>
          <a:prstGeom prst="roundRect">
            <a:avLst/>
          </a:prstGeom>
          <a:solidFill>
            <a:srgbClr val="EBF9F2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73152" cy="3291840"/>
          </a:xfrm>
          <a:prstGeom prst="rect">
            <a:avLst/>
          </a:prstGeom>
          <a:solidFill>
            <a:srgbClr val="1F9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002536"/>
            <a:ext cx="4581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F34"/>
                </a:solidFill>
                <a:latin typeface="Malgun Gothic"/>
              </a:rPr>
              <a:t>포함 범위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377439"/>
            <a:ext cx="4581144" cy="2688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C2128"/>
                </a:solidFill>
                <a:latin typeface="Malgun Gothic"/>
              </a:rPr>
              <a:t>• BoI Profile v0.1 및 seed 문서</a:t>
            </a:r>
            <a:br/>
            <a:r>
              <a:t>• Event Catalog / Action Catalog</a:t>
            </a:r>
            <a:br/>
            <a:r>
              <a:t>• Kafka 기반 이벤트 트리거</a:t>
            </a:r>
            <a:br/>
            <a:r>
              <a:t>• Action Gateway dry-run/approval guard</a:t>
            </a:r>
            <a:br/>
            <a:r>
              <a:t>• Langflow OpenAI 호환 Gemma Flow</a:t>
            </a:r>
            <a:br/>
            <a:r>
              <a:t>• 장비 이상 SOP workflow 데모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874519"/>
            <a:ext cx="4892040" cy="3291840"/>
          </a:xfrm>
          <a:prstGeom prst="roundRect">
            <a:avLst/>
          </a:prstGeom>
          <a:solidFill>
            <a:srgbClr val="FFF4F4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0760" y="1874519"/>
            <a:ext cx="73152" cy="3291840"/>
          </a:xfrm>
          <a:prstGeom prst="rect">
            <a:avLst/>
          </a:prstGeom>
          <a:solidFill>
            <a:srgbClr val="D2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45352" y="2002536"/>
            <a:ext cx="4581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F34"/>
                </a:solidFill>
                <a:latin typeface="Malgun Gothic"/>
              </a:rPr>
              <a:t>제외 범위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5352" y="2377439"/>
            <a:ext cx="4581144" cy="2688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C2128"/>
                </a:solidFill>
                <a:latin typeface="Malgun Gothic"/>
              </a:rPr>
              <a:t>• 전사 지식 그래프 완성</a:t>
            </a:r>
            <a:br/>
            <a:r>
              <a:t>• 실 시스템 쓰기 연동</a:t>
            </a:r>
            <a:br/>
            <a:r>
              <a:t>• 모든 팀 업무 자동화</a:t>
            </a:r>
            <a:br/>
            <a:r>
              <a:t>• HR/SSO/보안정책 완전 내재화</a:t>
            </a:r>
            <a:br/>
            <a:r>
              <a:t>• 운영 SLA/비용 최적화</a:t>
            </a:r>
            <a:br/>
            <a:r>
              <a:t>• 고위험 Action 자동 승인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309360"/>
            <a:ext cx="8046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06C7B"/>
                </a:solidFill>
                <a:latin typeface="Malgun Gothic"/>
              </a:rPr>
              <a:t>SK hynix AIX 확산 TF | Executive Brief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30936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606C7B"/>
                </a:solidFill>
                <a:latin typeface="Malgun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F61FF"/>
                </a:solidFill>
                <a:latin typeface="Malgun Gothic"/>
              </a:rPr>
              <a:t>BoI Wiki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7589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F34"/>
                </a:solidFill>
                <a:latin typeface="Malgun Gothic"/>
              </a:rPr>
              <a:t>실행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9784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06C7B"/>
                </a:solidFill>
                <a:latin typeface="Malgun Gothic"/>
              </a:rPr>
              <a:t>Event Broker와 Action Gateway를 중심으로 모든 실행 채널을 동등하게 연결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99616"/>
            <a:ext cx="10469880" cy="18288"/>
          </a:xfrm>
          <a:prstGeom prst="rect">
            <a:avLst/>
          </a:prstGeom>
          <a:solidFill>
            <a:srgbClr val="DE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48840"/>
            <a:ext cx="2057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148840"/>
            <a:ext cx="73152" cy="1417320"/>
          </a:xfrm>
          <a:prstGeom prst="rect">
            <a:avLst/>
          </a:prstGeom>
          <a:solidFill>
            <a:srgbClr val="1F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276856"/>
            <a:ext cx="1746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F1F34"/>
                </a:solidFill>
                <a:latin typeface="Malgun Gothic"/>
              </a:rPr>
              <a:t>업무 이벤트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651760"/>
            <a:ext cx="1746504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1C2128"/>
                </a:solidFill>
                <a:latin typeface="Malgun Gothic"/>
              </a:rPr>
              <a:t>equipment.alarm</a:t>
            </a:r>
            <a:br/>
            <a:r>
              <a:t>meeting.closed</a:t>
            </a:r>
            <a:br/>
            <a:r>
              <a:t>report.requested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79191" y="2487168"/>
            <a:ext cx="502920" cy="502920"/>
          </a:xfrm>
          <a:prstGeom prst="rightArrow">
            <a:avLst/>
          </a:prstGeom>
          <a:solidFill>
            <a:srgbClr val="F6F8FA"/>
          </a:solidFill>
          <a:ln>
            <a:solidFill>
              <a:srgbClr val="1F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136391" y="2148840"/>
            <a:ext cx="2057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36391" y="2148840"/>
            <a:ext cx="73152" cy="1417320"/>
          </a:xfrm>
          <a:prstGeom prst="rect">
            <a:avLst/>
          </a:prstGeom>
          <a:solidFill>
            <a:srgbClr val="00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00984" y="2276856"/>
            <a:ext cx="1746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F1F34"/>
                </a:solidFill>
                <a:latin typeface="Malgun Gothic"/>
              </a:rPr>
              <a:t>Kafka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00984" y="2651760"/>
            <a:ext cx="1746504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1C2128"/>
                </a:solidFill>
                <a:latin typeface="Malgun Gothic"/>
              </a:rPr>
              <a:t>boi.events</a:t>
            </a:r>
            <a:br/>
            <a:r>
              <a:t>boi.audit</a:t>
            </a:r>
            <a:br/>
            <a:r>
              <a:t>boi.dead-letter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221223" y="2487168"/>
            <a:ext cx="502920" cy="502920"/>
          </a:xfrm>
          <a:prstGeom prst="rightArrow">
            <a:avLst/>
          </a:prstGeom>
          <a:solidFill>
            <a:srgbClr val="F6F8FA"/>
          </a:solidFill>
          <a:ln>
            <a:solidFill>
              <a:srgbClr val="00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78423" y="2148840"/>
            <a:ext cx="2057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78423" y="2148840"/>
            <a:ext cx="73152" cy="1417320"/>
          </a:xfrm>
          <a:prstGeom prst="rect">
            <a:avLst/>
          </a:prstGeom>
          <a:solidFill>
            <a:srgbClr val="1F9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43015" y="2276856"/>
            <a:ext cx="1746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F1F34"/>
                </a:solidFill>
                <a:latin typeface="Malgun Gothic"/>
              </a:rPr>
              <a:t>Event Router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3015" y="2651760"/>
            <a:ext cx="1746504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1C2128"/>
                </a:solidFill>
                <a:latin typeface="Malgun Gothic"/>
              </a:rPr>
              <a:t>catalog 기반</a:t>
            </a:r>
            <a:br/>
            <a:r>
              <a:t>자동 dispatch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763255" y="2487168"/>
            <a:ext cx="502920" cy="502920"/>
          </a:xfrm>
          <a:prstGeom prst="rightArrow">
            <a:avLst/>
          </a:prstGeom>
          <a:solidFill>
            <a:srgbClr val="F6F8FA"/>
          </a:solidFill>
          <a:ln>
            <a:solidFill>
              <a:srgbClr val="1F97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0455" y="2148840"/>
            <a:ext cx="2057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0455" y="2148840"/>
            <a:ext cx="73152" cy="1417320"/>
          </a:xfrm>
          <a:prstGeom prst="rect">
            <a:avLst/>
          </a:prstGeom>
          <a:solidFill>
            <a:srgbClr val="F0A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5047" y="2276856"/>
            <a:ext cx="1746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F1F34"/>
                </a:solidFill>
                <a:latin typeface="Malgun Gothic"/>
              </a:rPr>
              <a:t>Action Gateway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5047" y="2651760"/>
            <a:ext cx="1746504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1C2128"/>
                </a:solidFill>
                <a:latin typeface="Malgun Gothic"/>
              </a:rPr>
              <a:t>BoI Writer</a:t>
            </a:r>
            <a:br/>
            <a:r>
              <a:t>Langflow/API/MCP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10305287" y="2487168"/>
            <a:ext cx="502920" cy="502920"/>
          </a:xfrm>
          <a:prstGeom prst="rightArrow">
            <a:avLst/>
          </a:prstGeom>
          <a:solidFill>
            <a:srgbClr val="F6F8FA"/>
          </a:solidFill>
          <a:ln>
            <a:solidFill>
              <a:srgbClr val="F0A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762487" y="2148840"/>
            <a:ext cx="2057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762487" y="2148840"/>
            <a:ext cx="73152" cy="1417320"/>
          </a:xfrm>
          <a:prstGeom prst="rect">
            <a:avLst/>
          </a:prstGeom>
          <a:solidFill>
            <a:srgbClr val="1F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27079" y="2276856"/>
            <a:ext cx="1746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F1F34"/>
                </a:solidFill>
                <a:latin typeface="Malgun Gothic"/>
              </a:rPr>
              <a:t>BoI Wiki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27079" y="2651760"/>
            <a:ext cx="1746504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1C2128"/>
                </a:solidFill>
                <a:latin typeface="Malgun Gothic"/>
              </a:rPr>
              <a:t>Private → Team</a:t>
            </a:r>
            <a:br/>
            <a:r>
              <a:t>근거/권한/승격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57200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C2128"/>
                </a:solidFill>
                <a:latin typeface="Malgun Gothic"/>
              </a:defRPr>
            </a:pPr>
            <a:r>
              <a:t>BoI Writer는 Langflow/API/Webhook/MCP와 동일한 1급 connector로 취급한다.</a:t>
            </a:r>
          </a:p>
          <a:p>
            <a:pPr>
              <a:spcAft>
                <a:spcPts val="500"/>
              </a:spcAft>
              <a:defRPr sz="1300">
                <a:solidFill>
                  <a:srgbClr val="1C2128"/>
                </a:solidFill>
                <a:latin typeface="Malgun Gothic"/>
              </a:defRPr>
            </a:pPr>
            <a:r>
              <a:t>고위험 Action은 자동 실행하지 않고 approval_required로 기록해 사람 승인 흐름에 연결한다.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309360"/>
            <a:ext cx="8046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06C7B"/>
                </a:solidFill>
                <a:latin typeface="Malgun Gothic"/>
              </a:rPr>
              <a:t>SK hynix AIX 확산 TF | Executive Brief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98480" y="630936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606C7B"/>
                </a:solidFill>
                <a:latin typeface="Malgun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F61FF"/>
                </a:solidFill>
                <a:latin typeface="Malgun Gothic"/>
              </a:rPr>
              <a:t>BoI Wiki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7589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F34"/>
                </a:solidFill>
                <a:latin typeface="Malgun Gothic"/>
              </a:rPr>
              <a:t>검증 시나리오: 장비 이상 SOP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9784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06C7B"/>
                </a:solidFill>
                <a:latin typeface="Malgun Gothic"/>
              </a:rPr>
              <a:t>단일 Alarm에서 원인 분석, 보전 가이드, 이상 조치까지 이벤트 체인 실행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99616"/>
            <a:ext cx="10469880" cy="18288"/>
          </a:xfrm>
          <a:prstGeom prst="rect">
            <a:avLst/>
          </a:prstGeom>
          <a:solidFill>
            <a:srgbClr val="DE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920240"/>
            <a:ext cx="2514600" cy="2011680"/>
          </a:xfrm>
          <a:prstGeom prst="roundRect">
            <a:avLst/>
          </a:prstGeom>
          <a:solidFill>
            <a:srgbClr val="F6F8FA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920240"/>
            <a:ext cx="73152" cy="2011680"/>
          </a:xfrm>
          <a:prstGeom prst="rect">
            <a:avLst/>
          </a:prstGeom>
          <a:solidFill>
            <a:srgbClr val="1F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048256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F1F34"/>
                </a:solidFill>
                <a:latin typeface="Malgun Gothic"/>
              </a:rPr>
              <a:t>1. Alarm 발생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423160"/>
            <a:ext cx="2203704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1C2128"/>
                </a:solidFill>
                <a:latin typeface="Malgun Gothic"/>
              </a:rPr>
              <a:t>equipment.alarm.raised.v1</a:t>
            </a:r>
            <a:br/>
            <a:r>
              <a:t>Trend/Raw Data 요청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920240"/>
            <a:ext cx="2514600" cy="2011680"/>
          </a:xfrm>
          <a:prstGeom prst="roundRect">
            <a:avLst/>
          </a:prstGeom>
          <a:solidFill>
            <a:srgbClr val="F6F8FA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0440" y="1920240"/>
            <a:ext cx="73152" cy="2011680"/>
          </a:xfrm>
          <a:prstGeom prst="rect">
            <a:avLst/>
          </a:prstGeom>
          <a:solidFill>
            <a:srgbClr val="00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85032" y="2048256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F1F34"/>
                </a:solidFill>
                <a:latin typeface="Malgun Gothic"/>
              </a:rPr>
              <a:t>2. 원인 분석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032" y="2423160"/>
            <a:ext cx="2203704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1C2128"/>
                </a:solidFill>
                <a:latin typeface="Malgun Gothic"/>
              </a:rPr>
              <a:t>root_cause.analysis.requested.v1</a:t>
            </a:r>
            <a:br/>
            <a:r>
              <a:t>원인 후보 BoI 생성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920240"/>
            <a:ext cx="2514600" cy="2011680"/>
          </a:xfrm>
          <a:prstGeom prst="roundRect">
            <a:avLst/>
          </a:prstGeom>
          <a:solidFill>
            <a:srgbClr val="F6F8FA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920240"/>
            <a:ext cx="73152" cy="2011680"/>
          </a:xfrm>
          <a:prstGeom prst="rect">
            <a:avLst/>
          </a:prstGeom>
          <a:solidFill>
            <a:srgbClr val="1F9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9672" y="2048256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F1F34"/>
                </a:solidFill>
                <a:latin typeface="Malgun Gothic"/>
              </a:rPr>
              <a:t>3. 보전 가이드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2423160"/>
            <a:ext cx="2203704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1C2128"/>
                </a:solidFill>
                <a:latin typeface="Malgun Gothic"/>
              </a:rPr>
              <a:t>maintenance.guide.requested.v1</a:t>
            </a:r>
            <a:br/>
            <a:r>
              <a:t>SOP/Runbook 참조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920240"/>
            <a:ext cx="2514600" cy="2011680"/>
          </a:xfrm>
          <a:prstGeom prst="roundRect">
            <a:avLst/>
          </a:prstGeom>
          <a:solidFill>
            <a:srgbClr val="F6F8FA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89720" y="1920240"/>
            <a:ext cx="73152" cy="2011680"/>
          </a:xfrm>
          <a:prstGeom prst="rect">
            <a:avLst/>
          </a:prstGeom>
          <a:solidFill>
            <a:srgbClr val="F0A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54312" y="2048256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F1F34"/>
                </a:solidFill>
                <a:latin typeface="Malgun Gothic"/>
              </a:rPr>
              <a:t>4. 이상 조치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54312" y="2423160"/>
            <a:ext cx="2203704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1C2128"/>
                </a:solidFill>
                <a:latin typeface="Malgun Gothic"/>
              </a:rPr>
              <a:t>corrective_action.requested.v1</a:t>
            </a:r>
            <a:br/>
            <a:r>
              <a:t>고위험 Action 승인 대기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754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1F34"/>
                </a:solidFill>
                <a:latin typeface="Malgun Gothic"/>
              </a:rPr>
              <a:t>검증 포인트: 이벤트 발행, 후속 이벤트 생성, BoI materialization, mock API dry-run, approval guard가 모두 로그로 남는다.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309360"/>
            <a:ext cx="8046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06C7B"/>
                </a:solidFill>
                <a:latin typeface="Malgun Gothic"/>
              </a:rPr>
              <a:t>SK hynix AIX 확산 TF | Executive Brief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630936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606C7B"/>
                </a:solidFill>
                <a:latin typeface="Malgun 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F61FF"/>
                </a:solidFill>
                <a:latin typeface="Malgun Gothic"/>
              </a:rPr>
              <a:t>BoI Wiki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7589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F34"/>
                </a:solidFill>
                <a:latin typeface="Malgun Gothic"/>
              </a:rPr>
              <a:t>실제 검증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9784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06C7B"/>
                </a:solidFill>
                <a:latin typeface="Malgun Gothic"/>
              </a:rPr>
              <a:t>API, Kafka, Langflow, Action log 기준으로 확인된 현재 증거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99616"/>
            <a:ext cx="10469880" cy="18288"/>
          </a:xfrm>
          <a:prstGeom prst="rect">
            <a:avLst/>
          </a:prstGeom>
          <a:solidFill>
            <a:srgbClr val="DE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18288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911095"/>
            <a:ext cx="15727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F61FF"/>
                </a:solidFill>
                <a:latin typeface="Malgun Gothic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2267712"/>
            <a:ext cx="1572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606C7B"/>
                </a:solidFill>
                <a:latin typeface="Malgun Gothic"/>
              </a:rPr>
              <a:t>Event Types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1828800"/>
            <a:ext cx="18288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16936" y="1911095"/>
            <a:ext cx="15727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A2B8"/>
                </a:solidFill>
                <a:latin typeface="Malgun Gothic"/>
              </a:rPr>
              <a:t>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16936" y="2267712"/>
            <a:ext cx="1572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606C7B"/>
                </a:solidFill>
                <a:latin typeface="Malgun Gothic"/>
              </a:rPr>
              <a:t>Actions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1828800"/>
            <a:ext cx="18288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28616" y="1911095"/>
            <a:ext cx="15727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F9764"/>
                </a:solidFill>
                <a:latin typeface="Malgun Gothic"/>
              </a:rPr>
              <a:t>144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28616" y="2267712"/>
            <a:ext cx="1572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606C7B"/>
                </a:solidFill>
                <a:latin typeface="Malgun Gothic"/>
              </a:rPr>
              <a:t>Event Logs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12280" y="1828800"/>
            <a:ext cx="18288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0296" y="1911095"/>
            <a:ext cx="15727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0AA30"/>
                </a:solidFill>
                <a:latin typeface="Malgun Gothic"/>
              </a:rPr>
              <a:t>122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0296" y="2267712"/>
            <a:ext cx="1572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606C7B"/>
                </a:solidFill>
                <a:latin typeface="Malgun Gothic"/>
              </a:rPr>
              <a:t>Action Logs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23960" y="1828800"/>
            <a:ext cx="18288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51976" y="1911095"/>
            <a:ext cx="15727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F61FF"/>
                </a:solidFill>
                <a:latin typeface="Malgun Gothic"/>
              </a:rPr>
              <a:t>95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51976" y="2267712"/>
            <a:ext cx="1572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606C7B"/>
                </a:solidFill>
                <a:latin typeface="Malgun Gothic"/>
              </a:rPr>
              <a:t>BoI Docs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154680"/>
            <a:ext cx="3703320" cy="1508760"/>
          </a:xfrm>
          <a:prstGeom prst="roundRect">
            <a:avLst/>
          </a:prstGeom>
          <a:solidFill>
            <a:srgbClr val="EBF9F2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154680"/>
            <a:ext cx="73152" cy="1508760"/>
          </a:xfrm>
          <a:prstGeom prst="rect">
            <a:avLst/>
          </a:prstGeom>
          <a:solidFill>
            <a:srgbClr val="1F9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" y="3282696"/>
            <a:ext cx="33924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F34"/>
                </a:solidFill>
                <a:latin typeface="Malgun Gothic"/>
              </a:rPr>
              <a:t>실행 확인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" y="3657600"/>
            <a:ext cx="3392424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C2128"/>
                </a:solidFill>
                <a:latin typeface="Malgun Gothic"/>
              </a:rPr>
              <a:t>Health: BoI API=ok, Action Gateway=ok</a:t>
            </a:r>
            <a:br/>
            <a:r>
              <a:t>Kafka topic: boi.events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63440" y="3154680"/>
            <a:ext cx="3703320" cy="1508760"/>
          </a:xfrm>
          <a:prstGeom prst="roundRect">
            <a:avLst/>
          </a:prstGeom>
          <a:solidFill>
            <a:srgbClr val="FFF6E2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63440" y="3154680"/>
            <a:ext cx="73152" cy="1508760"/>
          </a:xfrm>
          <a:prstGeom prst="rect">
            <a:avLst/>
          </a:prstGeom>
          <a:solidFill>
            <a:srgbClr val="F0A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28031" y="3282696"/>
            <a:ext cx="33924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F34"/>
                </a:solidFill>
                <a:latin typeface="Malgun Gothic"/>
              </a:rPr>
              <a:t>통제 확인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28031" y="3657600"/>
            <a:ext cx="3392424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C2128"/>
                </a:solidFill>
                <a:latin typeface="Malgun Gothic"/>
              </a:rPr>
              <a:t>high risk Action은 approval_required로 멈춤</a:t>
            </a:r>
            <a:br/>
            <a:r>
              <a:t>block_process_progress / change_spec_rule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49640" y="3154680"/>
            <a:ext cx="3108960" cy="1508760"/>
          </a:xfrm>
          <a:prstGeom prst="roundRect">
            <a:avLst/>
          </a:prstGeom>
          <a:solidFill>
            <a:srgbClr val="EBF2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9640" y="3154680"/>
            <a:ext cx="73152" cy="1508760"/>
          </a:xfrm>
          <a:prstGeom prst="rect">
            <a:avLst/>
          </a:prstGeom>
          <a:solidFill>
            <a:srgbClr val="1F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14232" y="3282696"/>
            <a:ext cx="2798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F34"/>
                </a:solidFill>
                <a:latin typeface="Malgun Gothic"/>
              </a:rPr>
              <a:t>증거 파일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14232" y="3657600"/>
            <a:ext cx="2798064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C2128"/>
                </a:solidFill>
                <a:latin typeface="Malgun Gothic"/>
              </a:rPr>
              <a:t>artifacts/boi-poc/evidence.json</a:t>
            </a:r>
            <a:br/>
            <a:r>
              <a:t>evidence-summary.md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309360"/>
            <a:ext cx="8046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06C7B"/>
                </a:solidFill>
                <a:latin typeface="Malgun Gothic"/>
              </a:rPr>
              <a:t>SK hynix AIX 확산 TF | Executive Brief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98480" y="630936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606C7B"/>
                </a:solidFill>
                <a:latin typeface="Malgun Gothi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F61FF"/>
                </a:solidFill>
                <a:latin typeface="Malgun Gothic"/>
              </a:rPr>
              <a:t>BoI Wiki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7589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F34"/>
                </a:solidFill>
                <a:latin typeface="Malgun Gothic"/>
              </a:rPr>
              <a:t>Langflow / LLM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9784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06C7B"/>
                </a:solidFill>
                <a:latin typeface="Malgun Gothic"/>
              </a:rPr>
              <a:t>OpenAI 호환 API로 지정된 Gemma 모델을 실제 호출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99616"/>
            <a:ext cx="10469880" cy="18288"/>
          </a:xfrm>
          <a:prstGeom prst="rect">
            <a:avLst/>
          </a:prstGeom>
          <a:solidFill>
            <a:srgbClr val="DE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4937760" cy="1234440"/>
          </a:xfrm>
          <a:prstGeom prst="roundRect">
            <a:avLst/>
          </a:prstGeom>
          <a:solidFill>
            <a:srgbClr val="EBF2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828800"/>
            <a:ext cx="73152" cy="1234440"/>
          </a:xfrm>
          <a:prstGeom prst="rect">
            <a:avLst/>
          </a:prstGeom>
          <a:solidFill>
            <a:srgbClr val="1F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56816"/>
            <a:ext cx="46268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F34"/>
                </a:solidFill>
                <a:latin typeface="Malgun Gothic"/>
              </a:rPr>
              <a:t>LLM 설정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331720"/>
            <a:ext cx="4626864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C2128"/>
                </a:solidFill>
                <a:latin typeface="Malgun Gothic"/>
              </a:rPr>
              <a:t>Base URL: http://mangugil.iptime.org:1236/v1</a:t>
            </a:r>
            <a:br/>
            <a:r>
              <a:t>Model: google/gemma-4-26b-a4b-qat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828800"/>
            <a:ext cx="4937760" cy="1234440"/>
          </a:xfrm>
          <a:prstGeom prst="roundRect">
            <a:avLst/>
          </a:prstGeom>
          <a:solidFill>
            <a:srgbClr val="EBF9F2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0760" y="1828800"/>
            <a:ext cx="73152" cy="1234440"/>
          </a:xfrm>
          <a:prstGeom prst="rect">
            <a:avLst/>
          </a:prstGeom>
          <a:solidFill>
            <a:srgbClr val="1F9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45352" y="1956816"/>
            <a:ext cx="46268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F34"/>
                </a:solidFill>
                <a:latin typeface="Malgun Gothic"/>
              </a:rPr>
              <a:t>Event Trace에서 호출된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5352" y="2331720"/>
            <a:ext cx="4626864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C2128"/>
                </a:solidFill>
                <a:latin typeface="Malgun Gothic"/>
              </a:rPr>
              <a:t>BoI Reference Flow (15)</a:t>
            </a:r>
            <a:br/>
            <a:r>
              <a:t>3aba3309-89a8-4171-a153-00db6b16dcba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37560"/>
            <a:ext cx="49377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337560"/>
            <a:ext cx="73152" cy="1143000"/>
          </a:xfrm>
          <a:prstGeom prst="rect">
            <a:avLst/>
          </a:prstGeom>
          <a:solidFill>
            <a:srgbClr val="1F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465576"/>
            <a:ext cx="46268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F34"/>
                </a:solidFill>
                <a:latin typeface="Malgun Gothic"/>
              </a:rPr>
              <a:t>E2E Action Log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3840480"/>
            <a:ext cx="4626864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1C2128"/>
                </a:solidFill>
                <a:latin typeface="Malgun Gothic"/>
              </a:rPr>
              <a:t>trace=trace-492cf5507241492abd6a7160ad14d1d5</a:t>
            </a:r>
            <a:br/>
            <a:r>
              <a:t>event=equipment.alarm.raised.v1</a:t>
            </a:r>
            <a:br/>
            <a:r>
              <a:t>status=langflow_invoked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3337560"/>
            <a:ext cx="49377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80760" y="3337560"/>
            <a:ext cx="73152" cy="1143000"/>
          </a:xfrm>
          <a:prstGeom prst="rect">
            <a:avLst/>
          </a:prstGeom>
          <a:solidFill>
            <a:srgbClr val="00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3465576"/>
            <a:ext cx="46268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F34"/>
                </a:solidFill>
                <a:latin typeface="Malgun Gothic"/>
              </a:rPr>
              <a:t>LLM 응답 발췌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3840480"/>
            <a:ext cx="4626864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1C2128"/>
                </a:solidFill>
                <a:latin typeface="Malgun Gothic"/>
              </a:rPr>
              <a:t>SK하이닉스 BoI Wiki PoC의 AI Native Workflow 설계자로서, 제공된 Event 데이터를 분석하여 작성한 **Private BoI(Business Operations Intelligence) 초안 실행 요약**입니다.</a:t>
            </a:r>
            <a:br/>
            <a:br/>
            <a:r>
              <a:t>---</a:t>
            </a:r>
            <a:br/>
            <a:br/>
            <a:r>
              <a:t># [Private BoI 초안] Response Chain 이상 발생에 따른 대응 및 지식 자산화</a:t>
            </a:r>
            <a:br/>
            <a:r>
              <a:t>**대상 장비:** ETCH-VM-01 | **관련 Trace ID:** `trace-492cf5507241492abd6a7160ad14d1d5`</a:t>
            </a:r>
            <a:br/>
            <a:br/>
            <a:r>
              <a:t>## 1. 개요 (Executive 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309360"/>
            <a:ext cx="8046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06C7B"/>
                </a:solidFill>
                <a:latin typeface="Malgun Gothic"/>
              </a:rPr>
              <a:t>SK hynix AIX 확산 TF | Executive Brief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30936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606C7B"/>
                </a:solidFill>
                <a:latin typeface="Malgun Gothi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F61FF"/>
                </a:solidFill>
                <a:latin typeface="Malgun Gothic"/>
              </a:rPr>
              <a:t>BoI Wiki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7589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F34"/>
                </a:solidFill>
                <a:latin typeface="Malgun Gothic"/>
              </a:rPr>
              <a:t>Governance: Private-first + 승인 기반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9784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06C7B"/>
                </a:solidFill>
                <a:latin typeface="Malgun Gothic"/>
              </a:rPr>
              <a:t>확산의 핵심은 속도보다 재사용 가능한 통제 구조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99616"/>
            <a:ext cx="10469880" cy="18288"/>
          </a:xfrm>
          <a:prstGeom prst="rect">
            <a:avLst/>
          </a:prstGeom>
          <a:solidFill>
            <a:srgbClr val="DE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3200400" cy="1920240"/>
          </a:xfrm>
          <a:prstGeom prst="roundRect">
            <a:avLst/>
          </a:prstGeom>
          <a:solidFill>
            <a:srgbClr val="EBF2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828800"/>
            <a:ext cx="73152" cy="1920240"/>
          </a:xfrm>
          <a:prstGeom prst="rect">
            <a:avLst/>
          </a:prstGeom>
          <a:solidFill>
            <a:srgbClr val="1F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56816"/>
            <a:ext cx="2889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F34"/>
                </a:solidFill>
                <a:latin typeface="Malgun Gothic"/>
              </a:rPr>
              <a:t>Private-first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331720"/>
            <a:ext cx="288950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C2128"/>
                </a:solidFill>
                <a:latin typeface="Malgun Gothic"/>
              </a:rPr>
              <a:t>개인 업무 맥락은 우선 Private BoI로 축적</a:t>
            </a:r>
            <a:br/>
            <a:r>
              <a:t>공유는 명시적 요청과 검토 이후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828800"/>
            <a:ext cx="3200400" cy="1920240"/>
          </a:xfrm>
          <a:prstGeom prst="roundRect">
            <a:avLst/>
          </a:prstGeom>
          <a:solidFill>
            <a:srgbClr val="EBF9F2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828800"/>
            <a:ext cx="73152" cy="1920240"/>
          </a:xfrm>
          <a:prstGeom prst="rect">
            <a:avLst/>
          </a:prstGeom>
          <a:solidFill>
            <a:srgbClr val="1F9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6552" y="1956816"/>
            <a:ext cx="2889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F34"/>
                </a:solidFill>
                <a:latin typeface="Malgun Gothic"/>
              </a:rPr>
              <a:t>Team/Public 승격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6552" y="2331720"/>
            <a:ext cx="288950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C2128"/>
                </a:solidFill>
                <a:latin typeface="Malgun Gothic"/>
              </a:rPr>
              <a:t>source_refs, reviewer, review status를 요구</a:t>
            </a:r>
            <a:br/>
            <a:r>
              <a:t>원본과 공유용 draft 분리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1828800"/>
            <a:ext cx="3200400" cy="1920240"/>
          </a:xfrm>
          <a:prstGeom prst="roundRect">
            <a:avLst/>
          </a:prstGeom>
          <a:solidFill>
            <a:srgbClr val="FFF6E2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1828800"/>
            <a:ext cx="73152" cy="1920240"/>
          </a:xfrm>
          <a:prstGeom prst="rect">
            <a:avLst/>
          </a:prstGeom>
          <a:solidFill>
            <a:srgbClr val="F0A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1956816"/>
            <a:ext cx="2889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F34"/>
                </a:solidFill>
                <a:latin typeface="Malgun Gothic"/>
              </a:rPr>
              <a:t>High-risk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5552" y="2331720"/>
            <a:ext cx="288950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C2128"/>
                </a:solidFill>
                <a:latin typeface="Malgun Gothic"/>
              </a:rPr>
              <a:t>공정 진행 금지, Spec/Rule 변경은 자동 실행 금지</a:t>
            </a:r>
            <a:br/>
            <a:r>
              <a:t>approval_required로만 기록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634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C2128"/>
                </a:solidFill>
                <a:latin typeface="Malgun Gothic"/>
              </a:defRPr>
            </a:pPr>
            <a:r>
              <a:t>경영진 관점의 질문: 누가 만들었고, 무엇을 근거로 했고, 어디까지 자동 실행했는가?</a:t>
            </a:r>
          </a:p>
          <a:p>
            <a:pPr>
              <a:spcAft>
                <a:spcPts val="500"/>
              </a:spcAft>
              <a:defRPr sz="1300">
                <a:solidFill>
                  <a:srgbClr val="1C2128"/>
                </a:solidFill>
                <a:latin typeface="Malgun Gothic"/>
              </a:defRPr>
            </a:pPr>
            <a:r>
              <a:t>BoI Wiki PoC는 이 질문에 답하는 메타데이터와 로그를 남기는 구조를 검증한다.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309360"/>
            <a:ext cx="8046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06C7B"/>
                </a:solidFill>
                <a:latin typeface="Malgun Gothic"/>
              </a:rPr>
              <a:t>SK hynix AIX 확산 TF | Executive Brief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30936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606C7B"/>
                </a:solidFill>
                <a:latin typeface="Malgun 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F61FF"/>
                </a:solidFill>
                <a:latin typeface="Malgun Gothic"/>
              </a:rPr>
              <a:t>BoI Wiki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7589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F34"/>
                </a:solidFill>
                <a:latin typeface="Malgun Gothic"/>
              </a:rPr>
              <a:t>실제 화면 캡처 증거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9784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06C7B"/>
                </a:solidFill>
                <a:latin typeface="Malgun Gothic"/>
              </a:rPr>
              <a:t>vercel:agent-browser로 캡처한 핵심 화면 PNG를 PPT에 삽입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99616"/>
            <a:ext cx="10469880" cy="18288"/>
          </a:xfrm>
          <a:prstGeom prst="rect">
            <a:avLst/>
          </a:prstGeom>
          <a:solidFill>
            <a:srgbClr val="DE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429000" cy="1417320"/>
          </a:xfrm>
          <a:prstGeom prst="rect">
            <a:avLst/>
          </a:prstGeom>
          <a:solidFill>
            <a:srgbClr val="F9FBFD"/>
          </a:solidFill>
          <a:ln>
            <a:solidFill>
              <a:srgbClr val="A0ACB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29968"/>
            <a:ext cx="3063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F34"/>
                </a:solidFill>
                <a:latin typeface="Malgun Gothic"/>
              </a:rPr>
              <a:t>BoI Wiki Home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41448"/>
            <a:ext cx="288036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06C7B"/>
                </a:solidFill>
                <a:latin typeface="Malgun Gothic"/>
              </a:rPr>
              <a:t>목록, 필터, Event log가 보이는 첫 화면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59" y="1828800"/>
            <a:ext cx="3429000" cy="1417320"/>
          </a:xfrm>
          <a:prstGeom prst="rect">
            <a:avLst/>
          </a:prstGeom>
          <a:solidFill>
            <a:srgbClr val="F9FBFD"/>
          </a:solidFill>
          <a:ln>
            <a:solidFill>
              <a:srgbClr val="A0ACB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029968"/>
            <a:ext cx="3063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F34"/>
                </a:solidFill>
                <a:latin typeface="Malgun Gothic"/>
              </a:rPr>
              <a:t>SOP Library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2441448"/>
            <a:ext cx="288036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06C7B"/>
                </a:solidFill>
                <a:latin typeface="Malgun Gothic"/>
              </a:rPr>
              <a:t>설비 이상 SOP와 Agent Harness SOP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828800"/>
            <a:ext cx="3429000" cy="1417320"/>
          </a:xfrm>
          <a:prstGeom prst="rect">
            <a:avLst/>
          </a:prstGeom>
          <a:solidFill>
            <a:srgbClr val="F9FBFD"/>
          </a:solidFill>
          <a:ln>
            <a:solidFill>
              <a:srgbClr val="A0ACB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029968"/>
            <a:ext cx="3063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F34"/>
                </a:solidFill>
                <a:latin typeface="Malgun Gothic"/>
              </a:rPr>
              <a:t>Event Stream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441448"/>
            <a:ext cx="288036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06C7B"/>
                </a:solidFill>
                <a:latin typeface="Malgun Gothic"/>
              </a:rPr>
              <a:t>Alarm → Root Cause → Maintenance → Corrective chain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703320"/>
            <a:ext cx="3429000" cy="1417320"/>
          </a:xfrm>
          <a:prstGeom prst="rect">
            <a:avLst/>
          </a:prstGeom>
          <a:solidFill>
            <a:srgbClr val="F9FBFD"/>
          </a:solidFill>
          <a:ln>
            <a:solidFill>
              <a:srgbClr val="A0ACB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904487"/>
            <a:ext cx="3063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F34"/>
                </a:solidFill>
                <a:latin typeface="Malgun Gothic"/>
              </a:rPr>
              <a:t>Action Logs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315968"/>
            <a:ext cx="288036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06C7B"/>
                </a:solidFill>
                <a:latin typeface="Malgun Gothic"/>
              </a:rPr>
              <a:t>materialized / dry_run / approval_required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59" y="3703320"/>
            <a:ext cx="3429000" cy="1417320"/>
          </a:xfrm>
          <a:prstGeom prst="rect">
            <a:avLst/>
          </a:prstGeom>
          <a:solidFill>
            <a:srgbClr val="F9FBFD"/>
          </a:solidFill>
          <a:ln>
            <a:solidFill>
              <a:srgbClr val="A0ACB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3904487"/>
            <a:ext cx="3063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F34"/>
                </a:solidFill>
                <a:latin typeface="Malgun Gothic"/>
              </a:rPr>
              <a:t>Private BoI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79" y="4315968"/>
            <a:ext cx="288036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06C7B"/>
                </a:solidFill>
                <a:latin typeface="Malgun Gothic"/>
              </a:rPr>
              <a:t>생성된 corrective action BoI 문서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3703320"/>
            <a:ext cx="3429000" cy="1417320"/>
          </a:xfrm>
          <a:prstGeom prst="rect">
            <a:avLst/>
          </a:prstGeom>
          <a:solidFill>
            <a:srgbClr val="F9FBFD"/>
          </a:solidFill>
          <a:ln>
            <a:solidFill>
              <a:srgbClr val="A0ACB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3904487"/>
            <a:ext cx="3063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F34"/>
                </a:solidFill>
                <a:latin typeface="Malgun Gothic"/>
              </a:rPr>
              <a:t>Langflow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4315968"/>
            <a:ext cx="288036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06C7B"/>
                </a:solidFill>
                <a:latin typeface="Malgun Gothic"/>
              </a:rPr>
              <a:t>Gemma OpenAI-compatible Reference 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309360"/>
            <a:ext cx="8046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06C7B"/>
                </a:solidFill>
                <a:latin typeface="Malgun Gothic"/>
              </a:rPr>
              <a:t>SK hynix AIX 확산 TF | Executive Brief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30936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606C7B"/>
                </a:solidFill>
                <a:latin typeface="Malgun Gothic"/>
              </a:rPr>
              <a:t>11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200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F61FF"/>
                </a:solidFill>
                <a:latin typeface="Malgun Gothic"/>
              </a:rPr>
              <a:t>BoI Wiki PoC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8368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F1F34"/>
                </a:solidFill>
                <a:latin typeface="Malgun Gothic"/>
              </a:rPr>
              <a:t>실제 화면 캡처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1133856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06C7B"/>
                </a:solidFill>
                <a:latin typeface="Malgun Gothic"/>
              </a:rPr>
              <a:t>검증 화면을 PPT에 직접 삽입한 최종 캡처 슬라이드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1481328"/>
            <a:ext cx="10469880" cy="18288"/>
          </a:xfrm>
          <a:prstGeom prst="rect">
            <a:avLst/>
          </a:prstGeom>
          <a:solidFill>
            <a:srgbClr val="DE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1527048"/>
            <a:ext cx="3520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F1F34"/>
                </a:solidFill>
                <a:latin typeface="Malgun Gothic"/>
              </a:rPr>
              <a:t>BoI Wiki Home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1783080"/>
            <a:ext cx="3520440" cy="1508760"/>
          </a:xfrm>
          <a:prstGeom prst="rect">
            <a:avLst/>
          </a:prstGeom>
          <a:solidFill>
            <a:srgbClr val="F8FAFC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1-boi-wiki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704" y="1819656"/>
            <a:ext cx="2041752" cy="143560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343400" y="1527048"/>
            <a:ext cx="3520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F1F34"/>
                </a:solidFill>
                <a:latin typeface="Malgun Gothic"/>
              </a:rPr>
              <a:t>OKF SOP Library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43400" y="1783080"/>
            <a:ext cx="3520440" cy="1508760"/>
          </a:xfrm>
          <a:prstGeom prst="rect">
            <a:avLst/>
          </a:prstGeom>
          <a:solidFill>
            <a:srgbClr val="F8FAFC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02-sop-libr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2744" y="1819656"/>
            <a:ext cx="2041752" cy="1435607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092440" y="1527048"/>
            <a:ext cx="3520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F1F34"/>
                </a:solidFill>
                <a:latin typeface="Malgun Gothic"/>
              </a:rPr>
              <a:t>Equipment Event Type Detail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92440" y="1783080"/>
            <a:ext cx="3520440" cy="1508760"/>
          </a:xfrm>
          <a:prstGeom prst="rect">
            <a:avLst/>
          </a:prstGeom>
          <a:solidFill>
            <a:srgbClr val="F8FAFC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03-event-type-catal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1784" y="1819656"/>
            <a:ext cx="2041752" cy="143560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94360" y="3538728"/>
            <a:ext cx="3520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F1F34"/>
                </a:solidFill>
                <a:latin typeface="Malgun Gothic"/>
              </a:rPr>
              <a:t>Event Stream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" y="3794760"/>
            <a:ext cx="3520440" cy="1508760"/>
          </a:xfrm>
          <a:prstGeom prst="rect">
            <a:avLst/>
          </a:prstGeom>
          <a:solidFill>
            <a:srgbClr val="F8FAFC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04-event-stre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704" y="3831336"/>
            <a:ext cx="2041752" cy="143560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343400" y="3538728"/>
            <a:ext cx="3520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F1F34"/>
                </a:solidFill>
                <a:latin typeface="Malgun Gothic"/>
              </a:rPr>
              <a:t>Workflow Status / Actions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43400" y="3794760"/>
            <a:ext cx="3520440" cy="1508760"/>
          </a:xfrm>
          <a:prstGeom prst="rect">
            <a:avLst/>
          </a:prstGeom>
          <a:solidFill>
            <a:srgbClr val="F8FAFC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05-action-catalog-lo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2744" y="3831336"/>
            <a:ext cx="2041752" cy="143560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092440" y="3538728"/>
            <a:ext cx="3520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F1F34"/>
                </a:solidFill>
                <a:latin typeface="Malgun Gothic"/>
              </a:rPr>
              <a:t>Generated Private BoI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92440" y="3794760"/>
            <a:ext cx="3520440" cy="1508760"/>
          </a:xfrm>
          <a:prstGeom prst="rect">
            <a:avLst/>
          </a:prstGeom>
          <a:solidFill>
            <a:srgbClr val="F8FAFC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06-private-boi-corrective-ac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31784" y="3831336"/>
            <a:ext cx="2041752" cy="1435607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594360" y="5989320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06C7B"/>
                </a:solidFill>
                <a:latin typeface="Malgun Gothic"/>
              </a:rPr>
              <a:t>Langflow와 Kafka UI 캡처는 Appendix screenshot slide에 별도 삽입된다.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F61FF"/>
                </a:solidFill>
                <a:latin typeface="Malgun Gothic"/>
              </a:rPr>
              <a:t>BoI Wiki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7589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F34"/>
                </a:solidFill>
                <a:latin typeface="Malgun Gothic"/>
              </a:rPr>
              <a:t>Roadmap: 2026 H2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9784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06C7B"/>
                </a:solidFill>
                <a:latin typeface="Malgun Gothic"/>
              </a:rPr>
              <a:t>PoC에서 운영모델로 넘어가는 전환 단계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99616"/>
            <a:ext cx="10469880" cy="18288"/>
          </a:xfrm>
          <a:prstGeom prst="rect">
            <a:avLst/>
          </a:prstGeom>
          <a:solidFill>
            <a:srgbClr val="DE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3200400" cy="2377440"/>
          </a:xfrm>
          <a:prstGeom prst="roundRect">
            <a:avLst/>
          </a:prstGeom>
          <a:solidFill>
            <a:srgbClr val="EBF2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73152" cy="2377440"/>
          </a:xfrm>
          <a:prstGeom prst="rect">
            <a:avLst/>
          </a:prstGeom>
          <a:solidFill>
            <a:srgbClr val="1F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956816"/>
            <a:ext cx="2889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F34"/>
                </a:solidFill>
                <a:latin typeface="Malgun Gothic"/>
              </a:rPr>
              <a:t>Pilot 확장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331720"/>
            <a:ext cx="2889504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C2128"/>
                </a:solidFill>
                <a:latin typeface="Malgun Gothic"/>
              </a:rPr>
              <a:t>3~5개 팀</a:t>
            </a:r>
            <a:br/>
            <a:r>
              <a:t>Staff/R&amp;D/제조 업무</a:t>
            </a:r>
            <a:br/>
            <a:r>
              <a:t>팀별 BoI Curator 지정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828800"/>
            <a:ext cx="3200400" cy="2377440"/>
          </a:xfrm>
          <a:prstGeom prst="roundRect">
            <a:avLst/>
          </a:prstGeom>
          <a:solidFill>
            <a:srgbClr val="EBF9F2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828800"/>
            <a:ext cx="73152" cy="2377440"/>
          </a:xfrm>
          <a:prstGeom prst="rect">
            <a:avLst/>
          </a:prstGeom>
          <a:solidFill>
            <a:srgbClr val="1F9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6552" y="1956816"/>
            <a:ext cx="2889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F34"/>
                </a:solidFill>
                <a:latin typeface="Malgun Gothic"/>
              </a:rPr>
              <a:t>운영정책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6552" y="2331720"/>
            <a:ext cx="2889504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C2128"/>
                </a:solidFill>
                <a:latin typeface="Malgun Gothic"/>
              </a:rPr>
              <a:t>Event Catalog v0.2</a:t>
            </a:r>
            <a:br/>
            <a:r>
              <a:t>승격/리뷰 체크리스트</a:t>
            </a:r>
            <a:br/>
            <a:r>
              <a:t>권한/출처/감사 로그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1828800"/>
            <a:ext cx="3200400" cy="2377440"/>
          </a:xfrm>
          <a:prstGeom prst="roundRect">
            <a:avLst/>
          </a:prstGeom>
          <a:solidFill>
            <a:srgbClr val="FFF6E2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26679" y="1828800"/>
            <a:ext cx="73152" cy="2377440"/>
          </a:xfrm>
          <a:prstGeom prst="rect">
            <a:avLst/>
          </a:prstGeom>
          <a:solidFill>
            <a:srgbClr val="F0A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91271" y="1956816"/>
            <a:ext cx="2889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F34"/>
                </a:solidFill>
                <a:latin typeface="Malgun Gothic"/>
              </a:rPr>
              <a:t>Template Library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91271" y="2331720"/>
            <a:ext cx="2889504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C2128"/>
                </a:solidFill>
                <a:latin typeface="Malgun Gothic"/>
              </a:rPr>
              <a:t>Langflow Template</a:t>
            </a:r>
            <a:br/>
            <a:r>
              <a:t>Agent Harness Prompt</a:t>
            </a:r>
            <a:br/>
            <a:r>
              <a:t>업무별 Action Catalog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309360"/>
            <a:ext cx="8046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06C7B"/>
                </a:solidFill>
                <a:latin typeface="Malgun Gothic"/>
              </a:rPr>
              <a:t>SK hynix AIX 확산 TF | Executive Brief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30936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606C7B"/>
                </a:solidFill>
                <a:latin typeface="Malgun Gothi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F61FF"/>
                </a:solidFill>
                <a:latin typeface="Malgun Gothic"/>
              </a:rPr>
              <a:t>BoI Wiki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7589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F34"/>
                </a:solidFill>
                <a:latin typeface="Malgun Gothic"/>
              </a:rPr>
              <a:t>Roadmap: 2027 → 2028+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9784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06C7B"/>
                </a:solidFill>
                <a:latin typeface="Malgun Gothic"/>
              </a:rPr>
              <a:t>Enterprise Agentic Operating Model로 확장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99616"/>
            <a:ext cx="10469880" cy="18288"/>
          </a:xfrm>
          <a:prstGeom prst="rect">
            <a:avLst/>
          </a:prstGeom>
          <a:solidFill>
            <a:srgbClr val="DE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Arrow 5"/>
          <p:cNvSpPr/>
          <p:nvPr/>
        </p:nvSpPr>
        <p:spPr>
          <a:xfrm>
            <a:off x="822960" y="1965960"/>
            <a:ext cx="3246120" cy="914400"/>
          </a:xfrm>
          <a:prstGeom prst="rightArrow">
            <a:avLst/>
          </a:prstGeom>
          <a:solidFill>
            <a:srgbClr val="EBF2FF"/>
          </a:solidFill>
          <a:ln>
            <a:solidFill>
              <a:srgbClr val="1F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F34"/>
                </a:solidFill>
                <a:latin typeface="Malgun Gothic"/>
              </a:rPr>
              <a:t>2027</a:t>
            </a:r>
          </a:p>
          <a:p>
            <a:r>
              <a:t>기능 조직 확산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434840" y="1965960"/>
            <a:ext cx="3246120" cy="914400"/>
          </a:xfrm>
          <a:prstGeom prst="rightArrow">
            <a:avLst/>
          </a:prstGeom>
          <a:solidFill>
            <a:srgbClr val="EBF2FF"/>
          </a:solidFill>
          <a:ln>
            <a:solidFill>
              <a:srgbClr val="1F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F34"/>
                </a:solidFill>
                <a:latin typeface="Malgun Gothic"/>
              </a:rPr>
              <a:t>2028+</a:t>
            </a:r>
          </a:p>
          <a:p>
            <a:r>
              <a:t>전사 Agentic Workflow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046720" y="1965960"/>
            <a:ext cx="3246120" cy="914400"/>
          </a:xfrm>
          <a:prstGeom prst="rightArrow">
            <a:avLst/>
          </a:prstGeom>
          <a:solidFill>
            <a:srgbClr val="EBF2FF"/>
          </a:solidFill>
          <a:ln>
            <a:solidFill>
              <a:srgbClr val="1F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F34"/>
                </a:solidFill>
                <a:latin typeface="Malgun Gothic"/>
              </a:rPr>
              <a:t>Target</a:t>
            </a:r>
          </a:p>
          <a:p>
            <a:r>
              <a:t>Management Intelligence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657600"/>
            <a:ext cx="3154680" cy="1234440"/>
          </a:xfrm>
          <a:prstGeom prst="roundRect">
            <a:avLst/>
          </a:prstGeom>
          <a:solidFill>
            <a:srgbClr val="F6F8FA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3657600"/>
            <a:ext cx="73152" cy="1234440"/>
          </a:xfrm>
          <a:prstGeom prst="rect">
            <a:avLst/>
          </a:prstGeom>
          <a:solidFill>
            <a:srgbClr val="1F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3785615"/>
            <a:ext cx="2843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F34"/>
                </a:solidFill>
                <a:latin typeface="Malgun Gothic"/>
              </a:rPr>
              <a:t>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4160520"/>
            <a:ext cx="2843784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C2128"/>
                </a:solidFill>
                <a:latin typeface="Malgun Gothic"/>
              </a:rPr>
              <a:t>R&amp;D BoI Wiki, 개발 Agentic AI, 고객 요구 변경 BoI, AI 교육/인증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3657600"/>
            <a:ext cx="3154680" cy="1234440"/>
          </a:xfrm>
          <a:prstGeom prst="roundRect">
            <a:avLst/>
          </a:prstGeom>
          <a:solidFill>
            <a:srgbClr val="F6F8FA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3657600"/>
            <a:ext cx="73152" cy="1234440"/>
          </a:xfrm>
          <a:prstGeom prst="rect">
            <a:avLst/>
          </a:prstGeom>
          <a:solidFill>
            <a:srgbClr val="1F9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3785615"/>
            <a:ext cx="2843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F34"/>
                </a:solidFill>
                <a:latin typeface="Malgun Gothic"/>
              </a:rPr>
              <a:t>2028+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4160520"/>
            <a:ext cx="2843784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C2128"/>
                </a:solidFill>
                <a:latin typeface="Malgun Gothic"/>
              </a:rPr>
              <a:t>Enterprise Event Broker, Knowledge Graph, Digital Twin/Operational Physical AI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3657600"/>
            <a:ext cx="3154680" cy="1234440"/>
          </a:xfrm>
          <a:prstGeom prst="roundRect">
            <a:avLst/>
          </a:prstGeom>
          <a:solidFill>
            <a:srgbClr val="F6F8FA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3657600"/>
            <a:ext cx="73152" cy="1234440"/>
          </a:xfrm>
          <a:prstGeom prst="rect">
            <a:avLst/>
          </a:prstGeom>
          <a:solidFill>
            <a:srgbClr val="F0A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7031" y="3785615"/>
            <a:ext cx="2843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F34"/>
                </a:solidFill>
                <a:latin typeface="Malgun Gothic"/>
              </a:rPr>
              <a:t>경영 지표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4160520"/>
            <a:ext cx="2843784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C2128"/>
                </a:solidFill>
                <a:latin typeface="Malgun Gothic"/>
              </a:rPr>
              <a:t>재사용률, 승격률, 검토 리드타임, 자동화 통제율, 업무 cycle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309360"/>
            <a:ext cx="8046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06C7B"/>
                </a:solidFill>
                <a:latin typeface="Malgun Gothic"/>
              </a:rPr>
              <a:t>SK hynix AIX 확산 TF | Executive Brief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30936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606C7B"/>
                </a:solidFill>
                <a:latin typeface="Malgun Gothi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F61FF"/>
                </a:solidFill>
                <a:latin typeface="Malgun Gothic"/>
              </a:rPr>
              <a:t>BoI Wiki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7589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F34"/>
                </a:solidFill>
                <a:latin typeface="Malgun Gothic"/>
              </a:rPr>
              <a:t>Appendix A. 기술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9784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06C7B"/>
                </a:solidFill>
                <a:latin typeface="Malgun Gothic"/>
              </a:rPr>
              <a:t>실행 중인 PoC 스택과 연결 포인트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99616"/>
            <a:ext cx="10469880" cy="18288"/>
          </a:xfrm>
          <a:prstGeom prst="rect">
            <a:avLst/>
          </a:prstGeom>
          <a:solidFill>
            <a:srgbClr val="DE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5029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128"/>
                </a:solidFill>
                <a:latin typeface="Malgun Gothic"/>
              </a:defRPr>
            </a:pPr>
            <a:r>
              <a:t>boi-api: http://localhost:8000</a:t>
            </a:r>
          </a:p>
          <a:p>
            <a:pPr>
              <a:spcAft>
                <a:spcPts val="500"/>
              </a:spcAft>
              <a:defRPr sz="1200">
                <a:solidFill>
                  <a:srgbClr val="1C2128"/>
                </a:solidFill>
                <a:latin typeface="Malgun Gothic"/>
              </a:defRPr>
            </a:pPr>
            <a:r>
              <a:t>action-gateway: http://localhost:8100</a:t>
            </a:r>
          </a:p>
          <a:p>
            <a:pPr>
              <a:spcAft>
                <a:spcPts val="500"/>
              </a:spcAft>
              <a:defRPr sz="1200">
                <a:solidFill>
                  <a:srgbClr val="1C2128"/>
                </a:solidFill>
                <a:latin typeface="Malgun Gothic"/>
              </a:defRPr>
            </a:pPr>
            <a:r>
              <a:t>langflow: http://localhost:7860</a:t>
            </a:r>
          </a:p>
          <a:p>
            <a:pPr>
              <a:spcAft>
                <a:spcPts val="500"/>
              </a:spcAft>
              <a:defRPr sz="1200">
                <a:solidFill>
                  <a:srgbClr val="1C2128"/>
                </a:solidFill>
                <a:latin typeface="Malgun Gothic"/>
              </a:defRPr>
            </a:pPr>
            <a:r>
              <a:t>kafka-ui: http://localhost:8081</a:t>
            </a:r>
          </a:p>
          <a:p>
            <a:pPr>
              <a:spcAft>
                <a:spcPts val="500"/>
              </a:spcAft>
              <a:defRPr sz="1200">
                <a:solidFill>
                  <a:srgbClr val="1C2128"/>
                </a:solidFill>
                <a:latin typeface="Malgun Gothic"/>
              </a:defRPr>
            </a:pPr>
            <a:r>
              <a:t>Kafka topics: boi.events, boi.audit, boi.dead-letter</a:t>
            </a:r>
          </a:p>
          <a:p>
            <a:pPr>
              <a:spcAft>
                <a:spcPts val="500"/>
              </a:spcAft>
              <a:defRPr sz="1200">
                <a:solidFill>
                  <a:srgbClr val="1C2128"/>
                </a:solidFill>
                <a:latin typeface="Malgun Gothic"/>
              </a:defRPr>
            </a:pPr>
            <a:r>
              <a:t>LLM: google/gemma-4-26b-a4b-qat via OpenAI-compatible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4572000" cy="2834640"/>
          </a:xfrm>
          <a:prstGeom prst="roundRect">
            <a:avLst/>
          </a:prstGeom>
          <a:solidFill>
            <a:srgbClr val="EBF2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73152" cy="2834640"/>
          </a:xfrm>
          <a:prstGeom prst="rect">
            <a:avLst/>
          </a:prstGeom>
          <a:solidFill>
            <a:srgbClr val="1F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5392" y="1956816"/>
            <a:ext cx="42611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F34"/>
                </a:solidFill>
                <a:latin typeface="Malgun Gothic"/>
              </a:rPr>
              <a:t>검증 명령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2331720"/>
            <a:ext cx="4261104" cy="2231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C2128"/>
                </a:solidFill>
                <a:latin typeface="Malgun Gothic"/>
              </a:rPr>
              <a:t>pytest tests -q -s</a:t>
            </a:r>
            <a:br/>
            <a:r>
              <a:t>python scripts/setup_langflow_reference_flows.py</a:t>
            </a:r>
            <a:br/>
            <a:r>
              <a:t>python scripts/collect_poc_evidence.py</a:t>
            </a:r>
            <a:br/>
            <a:r>
              <a:t>Docker compose stack health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309360"/>
            <a:ext cx="8046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06C7B"/>
                </a:solidFill>
                <a:latin typeface="Malgun Gothic"/>
              </a:rPr>
              <a:t>SK hynix AIX 확산 TF | Executive Brief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30936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606C7B"/>
                </a:solidFill>
                <a:latin typeface="Malgun Gothi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F61FF"/>
                </a:solidFill>
                <a:latin typeface="Malgun Gothic"/>
              </a:rPr>
              <a:t>BoI Wiki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7589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F34"/>
                </a:solidFill>
                <a:latin typeface="Malgun Gothic"/>
              </a:rPr>
              <a:t>Appendix B. 현재 갭과 후속 조치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9784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06C7B"/>
                </a:solidFill>
                <a:latin typeface="Malgun Gothic"/>
              </a:rPr>
              <a:t>완료 기준까지 남은 항목을 숨기지 않고 관리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99616"/>
            <a:ext cx="10469880" cy="18288"/>
          </a:xfrm>
          <a:prstGeom prst="rect">
            <a:avLst/>
          </a:prstGeom>
          <a:solidFill>
            <a:srgbClr val="DE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3291840" cy="2194560"/>
          </a:xfrm>
          <a:prstGeom prst="roundRect">
            <a:avLst/>
          </a:prstGeom>
          <a:solidFill>
            <a:srgbClr val="EBF9F2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828800"/>
            <a:ext cx="73152" cy="2194560"/>
          </a:xfrm>
          <a:prstGeom prst="rect">
            <a:avLst/>
          </a:prstGeom>
          <a:solidFill>
            <a:srgbClr val="1F9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56816"/>
            <a:ext cx="29809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F34"/>
                </a:solidFill>
                <a:latin typeface="Malgun Gothic"/>
              </a:rPr>
              <a:t>구현/검증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331720"/>
            <a:ext cx="2980944" cy="159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 b="0">
                <a:solidFill>
                  <a:srgbClr val="1C2128"/>
                </a:solidFill>
                <a:latin typeface="Malgun Gothic"/>
              </a:rPr>
              <a:t>완료</a:t>
            </a:r>
            <a:br/>
            <a:r>
              <a:t>API, Kafka, Event Router, Action Gateway, Langflow LLM smoke, BoI materialization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291840" cy="2194560"/>
          </a:xfrm>
          <a:prstGeom prst="roundRect">
            <a:avLst/>
          </a:prstGeom>
          <a:solidFill>
            <a:srgbClr val="EBF9F2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73152" cy="2194560"/>
          </a:xfrm>
          <a:prstGeom prst="rect">
            <a:avLst/>
          </a:prstGeom>
          <a:solidFill>
            <a:srgbClr val="1F9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956816"/>
            <a:ext cx="29809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F34"/>
                </a:solidFill>
                <a:latin typeface="Malgun Gothic"/>
              </a:rPr>
              <a:t>화면 캡처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331720"/>
            <a:ext cx="2980944" cy="159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 b="0">
                <a:solidFill>
                  <a:srgbClr val="1C2128"/>
                </a:solidFill>
                <a:latin typeface="Malgun Gothic"/>
              </a:rPr>
              <a:t>완료</a:t>
            </a:r>
            <a:br/>
            <a:r>
              <a:t>vercel:agent-browser로 BoI Wiki, Langflow, Kafka UI 캡처</a:t>
            </a:r>
            <a:br/>
            <a:r>
              <a:t>검증된 PNG 삽입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828800"/>
            <a:ext cx="3291840" cy="2194560"/>
          </a:xfrm>
          <a:prstGeom prst="roundRect">
            <a:avLst/>
          </a:prstGeom>
          <a:solidFill>
            <a:srgbClr val="EBF2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79" y="1828800"/>
            <a:ext cx="73152" cy="2194560"/>
          </a:xfrm>
          <a:prstGeom prst="rect">
            <a:avLst/>
          </a:prstGeom>
          <a:solidFill>
            <a:srgbClr val="1F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19871" y="1956816"/>
            <a:ext cx="29809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F34"/>
                </a:solidFill>
                <a:latin typeface="Malgun Gothic"/>
              </a:rPr>
              <a:t>PowerPoint Add-in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1" y="2331720"/>
            <a:ext cx="2980944" cy="159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 b="0">
                <a:solidFill>
                  <a:srgbClr val="1C2128"/>
                </a:solidFill>
                <a:latin typeface="Malgun Gothic"/>
              </a:rPr>
              <a:t>다음 단계</a:t>
            </a:r>
            <a:br/>
            <a:r>
              <a:t>PPT 초안을 PowerPoint에서 열고 ChatGPT 작업창으로 polish 요청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00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9764"/>
                </a:solidFill>
                <a:latin typeface="Malgun Gothic"/>
              </a:rPr>
              <a:t>완료 판단은 readiness gate, 실제 캡처 삽입, artifact-tool PPTX export가 모두 통과했을 때로 둔다.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309360"/>
            <a:ext cx="8046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06C7B"/>
                </a:solidFill>
                <a:latin typeface="Malgun Gothic"/>
              </a:rPr>
              <a:t>SK hynix AIX 확산 TF | Executive Brief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30936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606C7B"/>
                </a:solidFill>
                <a:latin typeface="Malgun Gothi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F61FF"/>
                </a:solidFill>
                <a:latin typeface="Malgun Gothic"/>
              </a:rPr>
              <a:t>BoI Wiki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F1F34"/>
                </a:solidFill>
                <a:latin typeface="Malgun Gothic"/>
              </a:rPr>
              <a:t>Appendix C. Platform Screens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33856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06C7B"/>
                </a:solidFill>
                <a:latin typeface="Malgun Gothic"/>
              </a:rPr>
              <a:t>Langflow와 Kafka UI 실행 상태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0469880" cy="18288"/>
          </a:xfrm>
          <a:prstGeom prst="rect">
            <a:avLst/>
          </a:prstGeom>
          <a:solidFill>
            <a:srgbClr val="DE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81911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F1F34"/>
                </a:solidFill>
                <a:latin typeface="Malgun Gothic"/>
              </a:rPr>
              <a:t>Langflow Equipment Stage Analysis 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4892040" cy="3063240"/>
          </a:xfrm>
          <a:prstGeom prst="rect">
            <a:avLst/>
          </a:prstGeom>
          <a:solidFill>
            <a:srgbClr val="F8FAFC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7-langflow-boi-reference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975" y="1911095"/>
            <a:ext cx="4252570" cy="29900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5010912"/>
            <a:ext cx="4892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606C7B"/>
                </a:solidFill>
                <a:latin typeface="Malgun Gothic"/>
              </a:rPr>
              <a:t>SOP stage analysis에 실제 호출된 Langflow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1581911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F1F34"/>
                </a:solidFill>
                <a:latin typeface="Malgun Gothic"/>
              </a:rPr>
              <a:t>Kafka UI Topics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874519"/>
            <a:ext cx="4892040" cy="3063240"/>
          </a:xfrm>
          <a:prstGeom prst="rect">
            <a:avLst/>
          </a:prstGeom>
          <a:solidFill>
            <a:srgbClr val="F8FAFC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8-kafka-ui-top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495" y="1911095"/>
            <a:ext cx="4252570" cy="29900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80760" y="5010912"/>
            <a:ext cx="4892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606C7B"/>
                </a:solidFill>
                <a:latin typeface="Malgun Gothic"/>
              </a:rPr>
              <a:t>boi.events, boi.audit, boi.dead-letter 토픽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309360"/>
            <a:ext cx="8046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06C7B"/>
                </a:solidFill>
                <a:latin typeface="Malgun Gothic"/>
              </a:rPr>
              <a:t>SK hynix AIX 확산 TF | Executive Brief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30936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606C7B"/>
                </a:solidFill>
                <a:latin typeface="Malgun Gothic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